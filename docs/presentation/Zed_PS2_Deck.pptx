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8"/>
    <p:sldId id="262" r:id="rId19"/>
    <p:sldId id="263" r:id="rId20"/>
    <p:sldId id="264" r:id="rId21"/>
  </p:sldIdLst>
  <p:sldSz cx="18288000" cy="10287000"/>
  <p:notesSz cx="6858000" cy="9144000"/>
  <p:embeddedFontLst>
    <p:embeddedFont>
      <p:font typeface="Poppins Bold" charset="1" panose="00000800000000000000"/>
      <p:regular r:id="rId11"/>
    </p:embeddedFont>
    <p:embeddedFont>
      <p:font typeface="Inter Semi-Bold" charset="1" panose="02000503000000020004"/>
      <p:regular r:id="rId12"/>
    </p:embeddedFont>
    <p:embeddedFont>
      <p:font typeface="Poppins Medium" charset="1" panose="00000600000000000000"/>
      <p:regular r:id="rId13"/>
    </p:embeddedFont>
    <p:embeddedFont>
      <p:font typeface="Inter" charset="1" panose="02000503000000020004"/>
      <p:regular r:id="rId14"/>
    </p:embeddedFont>
    <p:embeddedFont>
      <p:font typeface="Inter Medium" charset="1" panose="02000503000000020004"/>
      <p:regular r:id="rId15"/>
    </p:embeddedFont>
    <p:embeddedFont>
      <p:font typeface="Inter Bold" charset="1" panose="02000503000000020004"/>
      <p:regular r:id="rId16"/>
    </p:embeddedFont>
    <p:embeddedFont>
      <p:font typeface="Poppins" charset="1" panose="0000050000000000000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/Relationships>
</file>

<file path=ppt/slideLayouts/_rels/slideLayout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
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G1a" Type="http://schemas.openxmlformats.org/officeDocument/2006/relationships/image" Target="../media/image_g1_hero.png"/></Relationships>
</file>

<file path=ppt/slides/_rels/slide2.xml.rels><?xml version="1.0" encoding="UTF-8" standalone="yes"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Relationship Id="rIdG1a" Type="http://schemas.openxmlformats.org/officeDocument/2006/relationships/image" Target="../media/image_g1_problem.png"/></Relationships>
</file>

<file path=ppt/slides/_rels/slide3.xml.rels><?xml version="1.0" encoding="UTF-8" standalone="yes"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png" Type="http://schemas.openxmlformats.org/officeDocument/2006/relationships/image"/><Relationship Id="rId12" Target="../media/image19.png" Type="http://schemas.openxmlformats.org/officeDocument/2006/relationships/image"/><Relationship Id="rId13" Target="../media/image20.png" Type="http://schemas.openxmlformats.org/officeDocument/2006/relationships/image"/><Relationship Id="rId14" Target="../media/image21.png" Type="http://schemas.openxmlformats.org/officeDocument/2006/relationships/image"/><Relationship Id="rId15" Target="../media/image22.png" Type="http://schemas.openxmlformats.org/officeDocument/2006/relationships/image"/><Relationship Id="rId16" Target="../media/image23.png" Type="http://schemas.openxmlformats.org/officeDocument/2006/relationships/image"/><Relationship Id="rId17" Target="../media/image24.png" Type="http://schemas.openxmlformats.org/officeDocument/2006/relationships/image"/><Relationship Id="rId18" Target="../media/image25.png" Type="http://schemas.openxmlformats.org/officeDocument/2006/relationships/image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Relationship Id="rId8" Target="../media/image15.png" Type="http://schemas.openxmlformats.org/officeDocument/2006/relationships/image"/><Relationship Id="rId9" Target="../media/image16.png" Type="http://schemas.openxmlformats.org/officeDocument/2006/relationships/image"/><Relationship Id="rIdG1a" Type="http://schemas.openxmlformats.org/officeDocument/2006/relationships/image" Target="../media/image_g1_compare.png"/></Relationships>
</file>

<file path=ppt/slides/_rels/slide4.xml.rels><?xml version="1.0" encoding="UTF-8" standalone="yes"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4.png" Type="http://schemas.openxmlformats.org/officeDocument/2006/relationships/image"/><Relationship Id="rId11" Target="../media/image35.png" Type="http://schemas.openxmlformats.org/officeDocument/2006/relationships/image"/><Relationship Id="rId12" Target="../media/image36.png" Type="http://schemas.openxmlformats.org/officeDocument/2006/relationships/image"/><Relationship Id="rId13" Target="../media/image37.png" Type="http://schemas.openxmlformats.org/officeDocument/2006/relationships/image"/><Relationship Id="rId2" Target="../media/image26.png" Type="http://schemas.openxmlformats.org/officeDocument/2006/relationships/image"/><Relationship Id="rId3" Target="../media/image27.png" Type="http://schemas.openxmlformats.org/officeDocument/2006/relationships/image"/><Relationship Id="rId4" Target="../media/image28.pn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Relationship Id="rId8" Target="../media/image32.png" Type="http://schemas.openxmlformats.org/officeDocument/2006/relationships/image"/><Relationship Id="rId9" Target="../media/image33.png" Type="http://schemas.openxmlformats.org/officeDocument/2006/relationships/image"/></Relationships>
</file>

<file path=ppt/slides/_rels/slide5.xml.rels><?xml version="1.0" encoding="UTF-8" standalone="yes"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G2a" Type="http://schemas.openxmlformats.org/officeDocument/2006/relationships/image" Target="../media/image_g2_map.png"/></Relationships>
</file>

<file path=ppt/slides/_rels/slide6.xml.rels><?xml version="1.0" encoding="UTF-8" standalone="yes"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4.png" Type="http://schemas.openxmlformats.org/officeDocument/2006/relationships/image"/><Relationship Id="rId11" Target="../media/image35.png" Type="http://schemas.openxmlformats.org/officeDocument/2006/relationships/image"/><Relationship Id="rId12" Target="../media/image36.png" Type="http://schemas.openxmlformats.org/officeDocument/2006/relationships/image"/><Relationship Id="rId13" Target="../media/image37.png" Type="http://schemas.openxmlformats.org/officeDocument/2006/relationships/image"/><Relationship Id="rId2" Target="../media/image26.png" Type="http://schemas.openxmlformats.org/officeDocument/2006/relationships/image"/><Relationship Id="rId3" Target="../media/image27.png" Type="http://schemas.openxmlformats.org/officeDocument/2006/relationships/image"/><Relationship Id="rId4" Target="../media/image28.png" Type="http://schemas.openxmlformats.org/officeDocument/2006/relationships/image"/><Relationship Id="rId5" Target="../media/image29.png" Type="http://schemas.openxmlformats.org/officeDocument/2006/relationships/image"/><Relationship Id="rId6" Target="../media/image30.png" Type="http://schemas.openxmlformats.org/officeDocument/2006/relationships/image"/><Relationship Id="rId7" Target="../media/image31.png" Type="http://schemas.openxmlformats.org/officeDocument/2006/relationships/image"/><Relationship Id="rId8" Target="../media/image32.png" Type="http://schemas.openxmlformats.org/officeDocument/2006/relationships/image"/><Relationship Id="rId9" Target="../media/image33.png" Type="http://schemas.openxmlformats.org/officeDocument/2006/relationships/image"/><Relationship Id="rIdG2a" Type="http://schemas.openxmlformats.org/officeDocument/2006/relationships/image" Target="../media/image_g2_break.png"/><Relationship Id="rIdG2b" Type="http://schemas.openxmlformats.org/officeDocument/2006/relationships/image" Target="../media/image_g2_replay.png"/></Relationships>
</file>

<file path=ppt/slides/_rels/slide7.xml.rels><?xml version="1.0" encoding="UTF-8" standalone="yes"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8.png" Type="http://schemas.openxmlformats.org/officeDocument/2006/relationships/image"/><Relationship Id="rId3" Target="../media/image39.png" Type="http://schemas.openxmlformats.org/officeDocument/2006/relationships/image"/><Relationship Id="rId4" Target="../media/image40.png" Type="http://schemas.openxmlformats.org/officeDocument/2006/relationships/image"/><Relationship Id="rId5" Target="../media/image41.png" Type="http://schemas.openxmlformats.org/officeDocument/2006/relationships/image"/><Relationship Id="rId6" Target="../media/image42.png" Type="http://schemas.openxmlformats.org/officeDocument/2006/relationships/image"/><Relationship Id="rId7" Target="../media/image43.png" Type="http://schemas.openxmlformats.org/officeDocument/2006/relationships/image"/><Relationship Id="rIdG3a" Type="http://schemas.openxmlformats.org/officeDocument/2006/relationships/image" Target="../media/image_g3_upload.png"/><Relationship Id="rIdG3b" Type="http://schemas.openxmlformats.org/officeDocument/2006/relationships/image" Target="../media/image_g3_moments.png"/></Relationships>
</file>

<file path=ppt/slides/_rels/slide8.xml.rels><?xml version="1.0" encoding="UTF-8" standalone="yes"?>
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7.png" Type="http://schemas.openxmlformats.org/officeDocument/2006/relationships/image"/><Relationship Id="rId11" Target="../media/image18.png" Type="http://schemas.openxmlformats.org/officeDocument/2006/relationships/image"/><Relationship Id="rId12" Target="../media/image19.png" Type="http://schemas.openxmlformats.org/officeDocument/2006/relationships/image"/><Relationship Id="rId13" Target="../media/image20.png" Type="http://schemas.openxmlformats.org/officeDocument/2006/relationships/image"/><Relationship Id="rId14" Target="../media/image21.png" Type="http://schemas.openxmlformats.org/officeDocument/2006/relationships/image"/><Relationship Id="rId15" Target="../media/image22.png" Type="http://schemas.openxmlformats.org/officeDocument/2006/relationships/image"/><Relationship Id="rId16" Target="../media/image23.png" Type="http://schemas.openxmlformats.org/officeDocument/2006/relationships/image"/><Relationship Id="rId17" Target="../media/image24.png" Type="http://schemas.openxmlformats.org/officeDocument/2006/relationships/image"/><Relationship Id="rId18" Target="../media/image25.png" Type="http://schemas.openxmlformats.org/officeDocument/2006/relationships/image"/><Relationship Id="rId2" Target="../media/image9.png" Type="http://schemas.openxmlformats.org/officeDocument/2006/relationships/image"/><Relationship Id="rId3" Target="../media/image10.png" Type="http://schemas.openxmlformats.org/officeDocument/2006/relationships/image"/><Relationship Id="rId4" Target="../media/image11.png" Type="http://schemas.openxmlformats.org/officeDocument/2006/relationships/image"/><Relationship Id="rId5" Target="../media/image12.pn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Relationship Id="rId8" Target="../media/image15.png" Type="http://schemas.openxmlformats.org/officeDocument/2006/relationships/image"/><Relationship Id="rId9" Target="../media/image16.png" Type="http://schemas.openxmlformats.org/officeDocument/2006/relationships/image"/><Relationship Id="rIdG3a" Type="http://schemas.openxmlformats.org/officeDocument/2006/relationships/image" Target="../media/image_g3_results.png"/></Relationships>
</file>

<file path=ppt/slides/_rels/slide9.xml.rels><?xml version="1.0" encoding="UTF-8" standalone="yes"?>
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Relationship Id="rIdG3a" Type="http://schemas.openxmlformats.org/officeDocument/2006/relationships/image" Target="../media/image_g3_mem6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0883110" y="0"/>
            <a:ext cx="7404890" cy="10287000"/>
          </a:xfrm>
          <a:custGeom>
            <a:avLst/>
            <a:gdLst/>
            <a:ahLst/>
            <a:cxnLst/>
            <a:rect r="r" b="b" t="t" l="l"/>
            <a:pathLst>
              <a:path h="10287000" w="740489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42634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835203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234440" y="2148840"/>
            <a:ext cx="8778240" cy="30175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Zed PS-2: Gate Counter That Keeps One ID Per Person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80160" y="5349240"/>
            <a:ext cx="8595360" cy="118872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24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People tracking that stays correct when people get hidden or crowded, and shows exactly where it still fails.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80160" y="6766560"/>
            <a:ext cx="8229600" cy="41148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2400" b="1" dirty="0">
                <a:solidFill>
                  <a:srgbClr val="222643"/>
                </a:solidFill>
                <a:latin typeface="Poppins Medium"/>
                <a:ea typeface="Poppins Medium"/>
                <a:cs typeface="Poppins Medium"/>
              </a:rPr>
              <a:t>Panshul Arora · SRM IST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80160" y="7406640"/>
            <a:ext cx="8229600" cy="3657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BoT-SORT + visibility rules  ·  YOLOX-S  ·  FastAPI  ·  React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10744200" y="3136392"/>
            <a:ext cx="7132320" cy="4009972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0883110" y="0"/>
            <a:ext cx="7404890" cy="10287000"/>
          </a:xfrm>
          <a:custGeom>
            <a:avLst/>
            <a:gdLst/>
            <a:ahLst/>
            <a:cxnLst/>
            <a:rect r="r" b="b" t="t" l="l"/>
            <a:pathLst>
              <a:path h="10287000" w="740489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835203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914400" y="2011680"/>
            <a:ext cx="9144000" cy="96012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66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THE PROBLEM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" y="3154680"/>
            <a:ext cx="9144000" cy="51206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2200"/>
              </a:spcAft>
            </a:pPr>
            <a:r>
              <a:rPr lang="en-US" sz="28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At a gate, one person must equal one ID, or the count is wrong.</a:t>
            </a:r>
          </a:p>
          <a:p>
            <a:pPr algn="l">
              <a:spcAft>
                <a:spcPts val="1600"/>
              </a:spcAft>
            </a:pPr>
            <a:r>
              <a:rPr lang="en-US" sz="2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1  </a:t>
            </a:r>
            <a:r>
              <a:rPr lang="en-US" sz="22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ID switch: </a:t>
            </a:r>
            <a:r>
              <a:rPr lang="en-US" sz="22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 person walks behind someone, comes back with a new number, and gets counted twice.</a:t>
            </a:r>
          </a:p>
          <a:p>
            <a:pPr algn="l">
              <a:spcAft>
                <a:spcPts val="1600"/>
              </a:spcAft>
            </a:pPr>
            <a:r>
              <a:rPr lang="en-US" sz="2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2  </a:t>
            </a:r>
            <a:r>
              <a:rPr lang="en-US" sz="22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Swap: </a:t>
            </a:r>
            <a:r>
              <a:rPr lang="en-US" sz="22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two people cross paths and trade numbers, so the history of who went where breaks.</a:t>
            </a:r>
          </a:p>
          <a:p>
            <a:pPr algn="l">
              <a:spcAft>
                <a:spcPts val="1600"/>
              </a:spcAft>
            </a:pPr>
            <a:r>
              <a:rPr lang="en-US" sz="2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3  </a:t>
            </a:r>
            <a:r>
              <a:rPr lang="en-US" sz="22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Missed crossing: </a:t>
            </a:r>
            <a:r>
              <a:rPr lang="en-US" sz="22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person is lost right at the line, so IN/OUT is never counted.</a:t>
            </a:r>
          </a:p>
          <a:p>
            <a:pPr algn="l">
              <a:spcAft>
                <a:spcPts val="0"/>
              </a:spcAft>
            </a:pP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Why it matters: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entry counts, occupancy and safety limits are only as good as the IDs behind them. Common trackers (ByteTrack, the baseline) drop a person after short gaps.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10469880" y="2743200"/>
            <a:ext cx="7315200" cy="4112792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21" name="TextBox 21"/>
          <p:cNvSpPr txBox="1"/>
          <p:nvPr/>
        </p:nvSpPr>
        <p:spPr>
          <a:xfrm>
            <a:off x="10469880" y="6965720"/>
            <a:ext cx="7315200" cy="566928"/>
          </a:xfrm>
          <a:prstGeom prst="rect">
            <a:avLst/>
          </a:prstGeom>
          <a:solidFill>
            <a:srgbClr val="0F2BC4"/>
          </a:solidFill>
        </p:spPr>
        <p:txBody>
          <a:bodyPr lIns="137160" tIns="137160" rIns="137160" bIns="137160" wrap="square" anchor="ctr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</a:rPr>
              <a:t>Our app, gate-counting clip: a crowded gate where people hide behind each other.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519546"/>
          </a:xfrm>
          <a:custGeom>
            <a:avLst/>
            <a:gdLst/>
            <a:ahLst/>
            <a:cxnLst/>
            <a:rect r="r" b="b" t="t" l="l"/>
            <a:pathLst>
              <a:path h="1519546" w="9581512">
                <a:moveTo>
                  <a:pt x="0" y="0"/>
                </a:moveTo>
                <a:lnTo>
                  <a:pt x="9581512" y="0"/>
                </a:lnTo>
                <a:lnTo>
                  <a:pt x="958151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68680" y="1097280"/>
            <a:ext cx="6400800" cy="160020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OUR SOLUTION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2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VS BASELINE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id="49" name="TextBox 49"/>
          <p:cNvSpPr txBox="1"/>
          <p:nvPr/>
        </p:nvSpPr>
        <p:spPr>
          <a:xfrm>
            <a:off x="10058400" y="1417320"/>
            <a:ext cx="82296" cy="1143000"/>
          </a:xfrm>
          <a:prstGeom prst="rect">
            <a:avLst/>
          </a:prstGeom>
          <a:solidFill>
            <a:srgbClr val="0F2BC4"/>
          </a:solidFill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0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/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378440" y="1371600"/>
            <a:ext cx="7040880" cy="1234440"/>
          </a:xfrm>
          <a:prstGeom prst="rect">
            <a:avLst/>
          </a:prstGeom>
          <a:noFill/>
        </p:spPr>
        <p:txBody>
          <a:bodyPr lIns="0" tIns="0" rIns="0" bIns="0" wrap="square" anchor="ctr"/>
          <a:lstStyle/>
          <a:p>
            <a:pPr algn="l">
              <a:spcAft>
                <a:spcPts val="0"/>
              </a:spcAft>
            </a:pPr>
            <a:r>
              <a:rPr lang="en-US" sz="28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Same detector, smarter memory: </a:t>
            </a:r>
            <a:r>
              <a:rPr lang="en-US" sz="2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we keep the person, not just the box.</a:t>
            </a:r>
          </a:p>
        </p:txBody>
      </p:sp>
      <p:graphicFrame>
        <p:nvGraphicFramePr>
          <p:cNvPr id="51" name="Comparison table"/>
          <p:cNvGraphicFramePr>
            <a:graphicFrameLocks noGrp="1"/>
          </p:cNvGraphicFramePr>
          <p:nvPr/>
        </p:nvGraphicFramePr>
        <p:xfrm>
          <a:off x="868680" y="3108960"/>
          <a:ext cx="11384280" cy="4965192"/>
        </p:xfrm>
        <a:graphic>
          <a:graphicData uri="http://schemas.openxmlformats.org/drawingml/2006/table">
            <a:tbl>
              <a:tblPr firstRow="1" bandRow="0"/>
              <a:tblGrid>
                <a:gridCol w="2423160"/>
                <a:gridCol w="2926080"/>
                <a:gridCol w="60350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What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ByteTrack (baseline)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Ours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Core tracker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ByteTrack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BoT-SORT + visibility rules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When someone is hidden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Drops them quickly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Keeps their ID waiting while they're likely just hidden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Matching on return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Position only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Position + camera-motion correction (when available); appearance re-ID on GPU only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Proof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n/a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Tested across 48 crowd/hiding scenarios, 20 seeds each, with statistics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Privacy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0" dirty="0">
                          <a:solidFill>
                            <a:srgbClr val="5B5F73"/>
                          </a:solidFill>
                          <a:latin typeface="Inter"/>
                          <a:ea typeface="Inter"/>
                          <a:cs typeface="Inter"/>
                        </a:rPr>
                        <a:t>n/a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22264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Tracking reads original frames in memory only; output blurs faces with an oval; the uploaded original is deleted after the job</a:t>
                      </a:r>
                    </a:p>
                  </a:txBody>
                  <a:tcPr marL="146304" marR="109728" marT="54864" marB="54864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</a:tbl>
          </a:graphicData>
        </a:graphic>
      </p:graphicFrame>
      <p:pic>
        <p:nvPicPr>
          <p:cNvPr id="52" name="Screenshot 52"/>
          <p:cNvPicPr>
            <a:picLocks noChangeAspect="1"/>
          </p:cNvPicPr>
          <p:nvPr/>
        </p:nvPicPr>
        <p:blipFill>
          <a:blip r:embed="rIdG1a"/>
          <a:stretch>
            <a:fillRect/>
          </a:stretch>
        </p:blipFill>
        <p:spPr>
          <a:xfrm>
            <a:off x="12618720" y="3108960"/>
            <a:ext cx="4800600" cy="2699020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53" name="TextBox 53"/>
          <p:cNvSpPr txBox="1"/>
          <p:nvPr/>
        </p:nvSpPr>
        <p:spPr>
          <a:xfrm>
            <a:off x="12618720" y="5990860"/>
            <a:ext cx="4800600" cy="9144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Same real clip, side by side: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ByteTrack (baseline) next to ours, in our app's compare view.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26348"/>
            <a:ext cx="8279914" cy="1289974"/>
          </a:xfrm>
          <a:custGeom>
            <a:avLst/>
            <a:gdLst/>
            <a:ahLst/>
            <a:cxnLst/>
            <a:rect r="r" b="b" t="t" l="l"/>
            <a:pathLst>
              <a:path h="1289974" w="8279914">
                <a:moveTo>
                  <a:pt x="0" y="0"/>
                </a:moveTo>
                <a:lnTo>
                  <a:pt x="8279914" y="0"/>
                </a:lnTo>
                <a:lnTo>
                  <a:pt x="8279914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352038"/>
            <a:ext cx="8279914" cy="1508614"/>
          </a:xfrm>
          <a:custGeom>
            <a:avLst/>
            <a:gdLst/>
            <a:ahLst/>
            <a:cxnLst/>
            <a:rect r="r" b="b" t="t" l="l"/>
            <a:pathLst>
              <a:path h="1508614" w="8279914">
                <a:moveTo>
                  <a:pt x="0" y="0"/>
                </a:moveTo>
                <a:lnTo>
                  <a:pt x="8279914" y="0"/>
                </a:lnTo>
                <a:lnTo>
                  <a:pt x="827991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77240" y="1828800"/>
            <a:ext cx="7680960" cy="91440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ARCHITECTURE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2880360"/>
            <a:ext cx="7498080" cy="91440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26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One pipeline, from raw video to an honest count.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8706488" y="1071335"/>
            <a:ext cx="8936182" cy="8581610"/>
          </a:xfrm>
          <a:prstGeom prst="rect">
            <a:avLst/>
          </a:prstGeom>
          <a:solidFill>
            <a:srgbClr val="FFFFFF"/>
          </a:solidFill>
          <a:ln w="19050">
            <a:solidFill>
              <a:srgbClr val="B4BCEB"/>
            </a:solidFill>
          </a:ln>
        </p:spPr>
      </p:sp>
      <p:sp>
        <p:nvSpPr>
          <p:cNvPr id="30" name="TextBox 30"/>
          <p:cNvSpPr txBox="1"/>
          <p:nvPr/>
        </p:nvSpPr>
        <p:spPr>
          <a:xfrm>
            <a:off x="822960" y="4069080"/>
            <a:ext cx="7315200" cy="3200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TECH STACK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22960" y="4480560"/>
            <a:ext cx="3108960" cy="18288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Python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PyTorch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YOLOX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BoT-SORT / ByteTrack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977640" y="4480560"/>
            <a:ext cx="4480560" cy="18288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TrackEval (official MOT metrics)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FastAPI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React + TypeScript</a:t>
            </a:r>
          </a:p>
          <a:p>
            <a:pPr algn="l">
              <a:spcAft>
                <a:spcPts val="7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Docker Compose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22960" y="6400800"/>
            <a:ext cx="7315200" cy="3200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QUALITY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822960" y="6720840"/>
            <a:ext cx="3291840" cy="14173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5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321</a:t>
            </a:r>
          </a:p>
          <a:p>
            <a:pPr algn="l">
              <a:spcAft>
                <a:spcPts val="0"/>
              </a:spcAft>
            </a:pPr>
            <a:r>
              <a:rPr lang="en-US" sz="1800" b="0" dirty="0">
                <a:solidFill>
                  <a:srgbClr val="5B5F73"/>
                </a:solidFill>
                <a:latin typeface="Inter"/>
                <a:ea typeface="Inter"/>
                <a:cs typeface="Inter"/>
              </a:rPr>
              <a:t>backend tests passing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977640" y="6720840"/>
            <a:ext cx="3291840" cy="14173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5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175</a:t>
            </a:r>
          </a:p>
          <a:p>
            <a:pPr algn="l">
              <a:spcAft>
                <a:spcPts val="0"/>
              </a:spcAft>
            </a:pPr>
            <a:r>
              <a:rPr lang="en-US" sz="1800" b="0" dirty="0">
                <a:solidFill>
                  <a:srgbClr val="5B5F73"/>
                </a:solidFill>
                <a:latin typeface="Inter"/>
                <a:ea typeface="Inter"/>
                <a:cs typeface="Inter"/>
              </a:rPr>
              <a:t>frontend tests (vitest)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144000" y="1481328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Video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upload or demo clip</a:t>
            </a:r>
          </a:p>
        </p:txBody>
      </p:sp>
      <p:cxnSp>
        <p:nvCxnSpPr>
          <p:cNvPr id="50" name="Arrow 50"/>
          <p:cNvCxnSpPr/>
          <p:nvPr/>
        </p:nvCxnSpPr>
        <p:spPr>
          <a:xfrm>
            <a:off x="11978640" y="2487168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1" name="TextBox 41"/>
          <p:cNvSpPr txBox="1"/>
          <p:nvPr/>
        </p:nvSpPr>
        <p:spPr>
          <a:xfrm>
            <a:off x="9144000" y="2834640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YOLOX-S detector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finds people in each frame, on CPU</a:t>
            </a:r>
          </a:p>
        </p:txBody>
      </p:sp>
      <p:cxnSp>
        <p:nvCxnSpPr>
          <p:cNvPr id="51" name="Arrow 51"/>
          <p:cNvCxnSpPr/>
          <p:nvPr/>
        </p:nvCxnSpPr>
        <p:spPr>
          <a:xfrm>
            <a:off x="11978640" y="3840480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2" name="TextBox 42"/>
          <p:cNvSpPr txBox="1"/>
          <p:nvPr/>
        </p:nvSpPr>
        <p:spPr>
          <a:xfrm>
            <a:off x="9144000" y="4187952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0F2BC4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FFFFFF"/>
                </a:solidFill>
                <a:latin typeface="Inter Semi-Bold"/>
                <a:ea typeface="Inter Semi-Bold"/>
                <a:cs typeface="Inter Semi-Bold"/>
              </a:rPr>
              <a:t>Tracker: BoT-SORT + visibility rules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FFFFFF"/>
                </a:solidFill>
                <a:latin typeface="Inter"/>
                <a:ea typeface="Inter"/>
                <a:cs typeface="Inter"/>
              </a:rPr>
              <a:t>gives each person one ID and holds it while hidden</a:t>
            </a:r>
          </a:p>
        </p:txBody>
      </p:sp>
      <p:cxnSp>
        <p:nvCxnSpPr>
          <p:cNvPr id="52" name="Arrow 52"/>
          <p:cNvCxnSpPr/>
          <p:nvPr/>
        </p:nvCxnSpPr>
        <p:spPr>
          <a:xfrm>
            <a:off x="11978640" y="5193792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3" name="TextBox 43"/>
          <p:cNvSpPr txBox="1"/>
          <p:nvPr/>
        </p:nvSpPr>
        <p:spPr>
          <a:xfrm>
            <a:off x="9144000" y="5541264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Gate logic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counts IN/OUT when an ID crosses the drawn line</a:t>
            </a:r>
          </a:p>
        </p:txBody>
      </p:sp>
      <p:cxnSp>
        <p:nvCxnSpPr>
          <p:cNvPr id="53" name="Arrow 53"/>
          <p:cNvCxnSpPr/>
          <p:nvPr/>
        </p:nvCxnSpPr>
        <p:spPr>
          <a:xfrm>
            <a:off x="11978640" y="6547104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4" name="TextBox 44"/>
          <p:cNvSpPr txBox="1"/>
          <p:nvPr/>
        </p:nvSpPr>
        <p:spPr>
          <a:xfrm>
            <a:off x="9144000" y="6894576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Jobs API (FastAPI)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uploads, progress, results, metrics</a:t>
            </a:r>
          </a:p>
        </p:txBody>
      </p:sp>
      <p:cxnSp>
        <p:nvCxnSpPr>
          <p:cNvPr id="54" name="Arrow 54"/>
          <p:cNvCxnSpPr/>
          <p:nvPr/>
        </p:nvCxnSpPr>
        <p:spPr>
          <a:xfrm>
            <a:off x="11978640" y="7900416"/>
            <a:ext cx="0" cy="347472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  <p:sp>
        <p:nvSpPr>
          <p:cNvPr id="45" name="TextBox 45"/>
          <p:cNvSpPr txBox="1"/>
          <p:nvPr/>
        </p:nvSpPr>
        <p:spPr>
          <a:xfrm>
            <a:off x="9144000" y="8247888"/>
            <a:ext cx="5669280" cy="1005840"/>
          </a:xfrm>
          <a:prstGeom prst="roundRect">
            <a:avLst>
              <a:gd name="adj" fmla="val 12000"/>
            </a:avLst>
          </a:prstGeom>
          <a:solidFill>
            <a:srgbClr val="ECEFFC"/>
          </a:solidFill>
          <a:ln w="15875">
            <a:solidFill>
              <a:srgbClr val="0F2BC4"/>
            </a:solidFill>
          </a:ln>
        </p:spPr>
        <p:txBody>
          <a:bodyPr lIns="164592" tIns="164592" rIns="164592" bIns="164592" wrap="square" anchor="ctr"/>
          <a:lstStyle/>
          <a:p>
            <a:pPr algn="l">
              <a:spcAft>
                <a:spcPts val="200"/>
              </a:spcAft>
            </a:pPr>
            <a:r>
              <a:rPr lang="en-US" sz="19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Web app (React)</a:t>
            </a:r>
          </a:p>
          <a:p>
            <a:pPr algn="l">
              <a:spcAft>
                <a:spcPts val="0"/>
              </a:spcAft>
            </a:pPr>
            <a:r>
              <a:rPr lang="en-US" sz="16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Scenarios, Studio, Results / Stress Map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5179040" y="3867912"/>
            <a:ext cx="2240280" cy="233172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BC4"/>
            </a:solidFill>
            <a:prstDash val="dash"/>
          </a:ln>
        </p:spPr>
        <p:txBody>
          <a:bodyPr lIns="128016" tIns="128016" rIns="128016" bIns="128016" wrap="square" anchor="t"/>
          <a:lstStyle/>
          <a:p>
            <a:pPr algn="l">
              <a:spcAft>
                <a:spcPts val="30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Privacy step</a:t>
            </a:r>
          </a:p>
          <a:p>
            <a:pPr algn="l">
              <a:spcAft>
                <a:spcPts val="0"/>
              </a:spcAft>
            </a:pPr>
            <a:r>
              <a:rPr lang="en-US" sz="15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After tracking: oval face blur on everything shown or saved. The raw upload is deleted when the job ends.</a:t>
            </a:r>
          </a:p>
        </p:txBody>
      </p:sp>
      <p:cxnSp>
        <p:nvCxnSpPr>
          <p:cNvPr id="61" name="Arrow 61"/>
          <p:cNvCxnSpPr/>
          <p:nvPr/>
        </p:nvCxnSpPr>
        <p:spPr>
          <a:xfrm>
            <a:off x="14813280" y="4690872"/>
            <a:ext cx="365760" cy="0"/>
          </a:xfrm>
          <a:prstGeom prst="straightConnector1">
            <a:avLst/>
          </a:prstGeom>
          <a:ln w="28575">
            <a:solidFill>
              <a:srgbClr val="0F2BC4"/>
            </a:solidFill>
            <a:tailEnd type="triangle" w="med" len="med"/>
          </a:ln>
        </p:spPr>
      </p:cxn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184708" y="5564382"/>
            <a:ext cx="6103292" cy="4722618"/>
          </a:xfrm>
          <a:custGeom>
            <a:avLst/>
            <a:gdLst/>
            <a:ahLst/>
            <a:cxnLst/>
            <a:rect r="r" b="b" t="t" l="l"/>
            <a:pathLst>
              <a:path h="4722618" w="6103292">
                <a:moveTo>
                  <a:pt x="0" y="0"/>
                </a:moveTo>
                <a:lnTo>
                  <a:pt x="6103292" y="0"/>
                </a:lnTo>
                <a:lnTo>
                  <a:pt x="6103292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50392" y="2011680"/>
            <a:ext cx="16459200" cy="7772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5000" b="1" dirty="0">
                <a:solidFill>
                  <a:srgbClr val="102BAF"/>
                </a:solidFill>
                <a:latin typeface="Inter Bold"/>
                <a:ea typeface="Inter Bold"/>
                <a:cs typeface="Inter Bold"/>
              </a:rPr>
              <a:t>We stress-tested it on 48 scenarios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8680" y="4206240"/>
            <a:ext cx="329184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24</a:t>
            </a:r>
            <a:r>
              <a:rPr lang="en-US" sz="3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/ 48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8680" y="5760720"/>
            <a:ext cx="3154680" cy="10058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cells where ours is clearly better than ByteTrack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160520" y="4343400"/>
            <a:ext cx="182880" cy="237744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4526280" y="4206240"/>
            <a:ext cx="329184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14</a:t>
            </a:r>
            <a:r>
              <a:rPr lang="en-US" sz="3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/ 48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526280" y="5760720"/>
            <a:ext cx="3154680" cy="10058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cells where ours is worse than ByteTrack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7818120" y="4343400"/>
            <a:ext cx="182880" cy="237744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8183880" y="4206240"/>
            <a:ext cx="329184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1</a:t>
            </a:r>
            <a:r>
              <a:rPr lang="en-US" sz="3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/ 48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183880" y="5760720"/>
            <a:ext cx="3154680" cy="10058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cell worse with the longer-memory setting (opt-in, tested on MOT17 only so far)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8680" y="2926080"/>
            <a:ext cx="10332720" cy="12344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Setup: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 simulator hides people for 0.5 to 5 seconds in crowds of 5 to 40 people. 48 scenario cells, 20 random runs each, with separate seeds for tuning and for reporting. </a:t>
            </a: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“Better” counts only when the statistics are sure: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bootstrap 95% CI (range of likely differences) excludes 0 and the sign test (wins vs. losses check) gives p&lt;0.05.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680" y="7086600"/>
            <a:ext cx="10332720" cy="86868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23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Ours wins at every crowd size when people are hidden 1 to 2.5 s; past 3 s its memory runs out.</a:t>
            </a:r>
          </a:p>
        </p:txBody>
      </p:sp>
      <p:pic>
        <p:nvPicPr>
          <p:cNvPr id="22" name="Screenshot 22"/>
          <p:cNvPicPr>
            <a:picLocks noChangeAspect="1"/>
          </p:cNvPicPr>
          <p:nvPr/>
        </p:nvPicPr>
        <p:blipFill>
          <a:blip r:embed="rIdG2a"/>
          <a:stretch>
            <a:fillRect/>
          </a:stretch>
        </p:blipFill>
        <p:spPr>
          <a:xfrm>
            <a:off x="11521440" y="2926080"/>
            <a:ext cx="5989320" cy="3367348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23" name="TextBox 23"/>
          <p:cNvSpPr txBox="1"/>
          <p:nvPr/>
        </p:nvSpPr>
        <p:spPr>
          <a:xfrm>
            <a:off x="11521440" y="6430588"/>
            <a:ext cx="4937760" cy="7315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6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The Stress Map in our app: </a:t>
            </a:r>
            <a:r>
              <a:rPr lang="en-US" sz="16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6 crowd sizes × 8 hiding times = 48 cells.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426348"/>
            <a:ext cx="8279914" cy="1289974"/>
          </a:xfrm>
          <a:custGeom>
            <a:avLst/>
            <a:gdLst/>
            <a:ahLst/>
            <a:cxnLst/>
            <a:rect r="r" b="b" t="t" l="l"/>
            <a:pathLst>
              <a:path h="1289974" w="8279914">
                <a:moveTo>
                  <a:pt x="0" y="0"/>
                </a:moveTo>
                <a:lnTo>
                  <a:pt x="8279914" y="0"/>
                </a:lnTo>
                <a:lnTo>
                  <a:pt x="8279914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352038"/>
            <a:ext cx="8279914" cy="1508614"/>
          </a:xfrm>
          <a:custGeom>
            <a:avLst/>
            <a:gdLst/>
            <a:ahLst/>
            <a:cxnLst/>
            <a:rect r="r" b="b" t="t" l="l"/>
            <a:pathLst>
              <a:path h="1508614" w="8279914">
                <a:moveTo>
                  <a:pt x="0" y="0"/>
                </a:moveTo>
                <a:lnTo>
                  <a:pt x="8279914" y="0"/>
                </a:lnTo>
                <a:lnTo>
                  <a:pt x="827991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777240" y="1783080"/>
            <a:ext cx="7680960" cy="16916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BREAK IT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60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YOURSELF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822960" y="3657600"/>
            <a:ext cx="7589520" cy="46634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2000"/>
              </a:spcAft>
            </a:pPr>
            <a:r>
              <a:rPr lang="en-US" sz="24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Judges don't have to trust our numbers; they can try to break it.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Replay any cell: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click a cell of the Stress Map to replay that exact scenario and see where IDs hold or switch.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Break it yourself: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set crowd size and hiding time, and get a verdict for both trackers.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Shareable link: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every result has a link that reopens the same scenario.</a:t>
            </a:r>
          </a:p>
          <a:p>
            <a:pPr algn="l">
              <a:spcAft>
                <a:spcPts val="14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Every ID change is logged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with the reason it happened, so you can trace any switch.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8706488" y="1071335"/>
            <a:ext cx="8936182" cy="8581610"/>
          </a:xfrm>
          <a:prstGeom prst="rect">
            <a:avLst/>
          </a:prstGeom>
          <a:solidFill>
            <a:srgbClr val="FFFFFF"/>
          </a:solidFill>
          <a:ln w="19050">
            <a:solidFill>
              <a:srgbClr val="B4BCEB"/>
            </a:solidFill>
          </a:ln>
        </p:spPr>
      </p:sp>
      <p:pic>
        <p:nvPicPr>
          <p:cNvPr id="30" name="Screenshot 30"/>
          <p:cNvPicPr>
            <a:picLocks noChangeAspect="1"/>
          </p:cNvPicPr>
          <p:nvPr/>
        </p:nvPicPr>
        <p:blipFill>
          <a:blip r:embed="rIdG2a"/>
          <a:stretch>
            <a:fillRect/>
          </a:stretch>
        </p:blipFill>
        <p:spPr>
          <a:xfrm>
            <a:off x="9052560" y="1417320"/>
            <a:ext cx="8229600" cy="4626891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pic>
        <p:nvPicPr>
          <p:cNvPr id="31" name="Screenshot 31"/>
          <p:cNvPicPr>
            <a:picLocks noChangeAspect="1"/>
          </p:cNvPicPr>
          <p:nvPr/>
        </p:nvPicPr>
        <p:blipFill>
          <a:blip r:embed="rIdG2b"/>
          <a:stretch>
            <a:fillRect/>
          </a:stretch>
        </p:blipFill>
        <p:spPr>
          <a:xfrm>
            <a:off x="9052560" y="6364251"/>
            <a:ext cx="4206240" cy="2364855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32" name="TextBox 32"/>
          <p:cNvSpPr txBox="1"/>
          <p:nvPr/>
        </p:nvSpPr>
        <p:spPr>
          <a:xfrm>
            <a:off x="13578840" y="6364251"/>
            <a:ext cx="3703320" cy="2364855"/>
          </a:xfrm>
          <a:prstGeom prst="rect">
            <a:avLst/>
          </a:prstGeom>
          <a:noFill/>
        </p:spPr>
        <p:txBody>
          <a:bodyPr lIns="0" tIns="0" rIns="0" bIns="0" wrap="square" anchor="ctr"/>
          <a:lstStyle/>
          <a:p>
            <a:pPr algn="l">
              <a:spcAft>
                <a:spcPts val="1000"/>
              </a:spcAft>
            </a:pPr>
            <a:r>
              <a:rPr lang="en-US" sz="17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Top: </a:t>
            </a:r>
            <a:r>
              <a:rPr lang="en-US" sz="17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“Break it yourself” verdict, both trackers side by side.</a:t>
            </a:r>
          </a:p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Below: </a:t>
            </a:r>
            <a:r>
              <a:rPr lang="en-US" sz="17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 cell replay of one Stress Map scenario.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184708" y="5564382"/>
            <a:ext cx="6103292" cy="4722618"/>
          </a:xfrm>
          <a:custGeom>
            <a:avLst/>
            <a:gdLst/>
            <a:ahLst/>
            <a:cxnLst/>
            <a:rect r="r" b="b" t="t" l="l"/>
            <a:pathLst>
              <a:path h="4722618" w="6103292">
                <a:moveTo>
                  <a:pt x="0" y="0"/>
                </a:moveTo>
                <a:lnTo>
                  <a:pt x="6103292" y="0"/>
                </a:lnTo>
                <a:lnTo>
                  <a:pt x="6103292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850392" y="2057400"/>
            <a:ext cx="16916400" cy="68580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4000" b="1" dirty="0">
                <a:solidFill>
                  <a:srgbClr val="102BAF"/>
                </a:solidFill>
                <a:latin typeface="Inter Bold"/>
                <a:ea typeface="Inter Bold"/>
                <a:cs typeface="Inter Bold"/>
              </a:rPr>
              <a:t>Try it on any video: upload, draw the gate, get counts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68680" y="4160520"/>
            <a:ext cx="292608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9</a:t>
            </a:r>
            <a:r>
              <a:rPr lang="en-US" sz="34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of 15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8680" y="5715000"/>
            <a:ext cx="2926080" cy="8229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counted crossings are real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840480" y="4297680"/>
            <a:ext cx="182880" cy="224028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4251960" y="4160520"/>
            <a:ext cx="219456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4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251960" y="5715000"/>
            <a:ext cx="2194560" cy="8229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true crossings missed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6492240" y="4297680"/>
            <a:ext cx="182880" cy="2240280"/>
          </a:xfrm>
          <a:custGeom>
            <a:avLst/>
            <a:gdLst/>
            <a:ahLst/>
            <a:cxnLst/>
            <a:rect r="r" b="b" t="t" l="l"/>
            <a:pathLst>
              <a:path h="3662216" w="229694">
                <a:moveTo>
                  <a:pt x="0" y="0"/>
                </a:moveTo>
                <a:lnTo>
                  <a:pt x="229694" y="0"/>
                </a:lnTo>
                <a:lnTo>
                  <a:pt x="22969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6903720" y="4160520"/>
            <a:ext cx="4480560" cy="1417320"/>
          </a:xfrm>
          <a:prstGeom prst="rect">
            <a:avLst/>
          </a:prstGeom>
        </p:spPr>
        <p:txBody>
          <a:bodyPr anchor="b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3</a:t>
            </a:r>
            <a:r>
              <a:rPr lang="en-US" sz="28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IN / </a:t>
            </a:r>
            <a:r>
              <a:rPr lang="en-US" sz="96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10</a:t>
            </a:r>
            <a:r>
              <a:rPr lang="en-US" sz="2800" b="1" dirty="0">
                <a:solidFill>
                  <a:srgbClr val="102BAF"/>
                </a:solidFill>
                <a:latin typeface="Poppins Bold"/>
                <a:ea typeface="Poppins Bold"/>
                <a:cs typeface="Poppins Bold"/>
              </a:rPr>
              <a:t> OUT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903720" y="5715000"/>
            <a:ext cx="4480560" cy="8229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0"/>
              </a:spcAft>
            </a:pPr>
            <a:r>
              <a:rPr lang="en-US" sz="1700" b="0" dirty="0">
                <a:solidFill>
                  <a:srgbClr val="1F1E47"/>
                </a:solidFill>
                <a:latin typeface="Poppins"/>
                <a:ea typeface="Poppins"/>
                <a:cs typeface="Poppins"/>
              </a:rPr>
              <a:t>true count (the tracker counted 4 IN / 11 OUT)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68680" y="2834640"/>
            <a:ext cx="10332720" cy="118872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Setup: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MOT17-09, a public benchmark clip with human-labelled ground truth (the true answer). Ground truth is used offline only, never shown in the app. Run on CPU with the YOLOX-S detector. </a:t>
            </a: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True count 3 IN / 10 OUT; tracker 4 IN / 11 OUT.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68680" y="6720840"/>
            <a:ext cx="10332720" cy="86868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22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On CPU, without appearance re-ID, some crossings are false or missed. We show that instead of hiding it.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68680" y="7680960"/>
            <a:ext cx="10332720" cy="82296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7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“Moments worth checking” </a:t>
            </a:r>
            <a:r>
              <a:rPr lang="en-US" sz="17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lists likely mistakes with a timestamp, a still frame and the two IDs, for an operator to review. It doesn't change the count (screenshot, bottom right).</a:t>
            </a:r>
          </a:p>
        </p:txBody>
      </p:sp>
      <p:pic>
        <p:nvPicPr>
          <p:cNvPr id="22" name="Screenshot 22"/>
          <p:cNvPicPr>
            <a:picLocks noChangeAspect="1"/>
          </p:cNvPicPr>
          <p:nvPr/>
        </p:nvPicPr>
        <p:blipFill>
          <a:blip r:embed="rIdG3a"/>
          <a:stretch>
            <a:fillRect/>
          </a:stretch>
        </p:blipFill>
        <p:spPr>
          <a:xfrm>
            <a:off x="11521440" y="2834640"/>
            <a:ext cx="5989320" cy="3367348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pic>
        <p:nvPicPr>
          <p:cNvPr id="23" name="Screenshot 23"/>
          <p:cNvPicPr>
            <a:picLocks noChangeAspect="1"/>
          </p:cNvPicPr>
          <p:nvPr/>
        </p:nvPicPr>
        <p:blipFill>
          <a:blip r:embed="rIdG3b"/>
          <a:stretch>
            <a:fillRect/>
          </a:stretch>
        </p:blipFill>
        <p:spPr>
          <a:xfrm>
            <a:off x="11521440" y="6476308"/>
            <a:ext cx="3931920" cy="2210626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0" y="634055"/>
            <a:ext cx="9581512" cy="1519546"/>
          </a:xfrm>
          <a:custGeom>
            <a:avLst/>
            <a:gdLst/>
            <a:ahLst/>
            <a:cxnLst/>
            <a:rect r="r" b="b" t="t" l="l"/>
            <a:pathLst>
              <a:path h="1519546" w="9581512">
                <a:moveTo>
                  <a:pt x="0" y="0"/>
                </a:moveTo>
                <a:lnTo>
                  <a:pt x="9581512" y="0"/>
                </a:lnTo>
                <a:lnTo>
                  <a:pt x="958151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868680" y="1097280"/>
            <a:ext cx="8229600" cy="155448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4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OFFICIAL BENCHMARKS: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4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RUNS IN PROGRESS</a:t>
            </a:r>
          </a:p>
        </p:txBody>
      </p:sp>
      <p:sp>
        <p:nvSpPr>
          <p:cNvPr name="Freeform 42" id="42"/>
          <p:cNvSpPr/>
          <p:nvPr/>
        </p:nvSpPr>
        <p:spPr>
          <a:xfrm flipH="false" flipV="false" rot="0">
            <a:off x="0" y="8778386"/>
            <a:ext cx="9581512" cy="1082267"/>
          </a:xfrm>
          <a:custGeom>
            <a:avLst/>
            <a:gdLst/>
            <a:ahLst/>
            <a:cxnLst/>
            <a:rect r="r" b="b" t="t" l="l"/>
            <a:pathLst>
              <a:path h="1082267" w="9581512">
                <a:moveTo>
                  <a:pt x="0" y="0"/>
                </a:moveTo>
                <a:lnTo>
                  <a:pt x="9581512" y="0"/>
                </a:lnTo>
                <a:lnTo>
                  <a:pt x="958151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id="49" name="TextBox 49"/>
          <p:cNvSpPr txBox="1"/>
          <p:nvPr/>
        </p:nvSpPr>
        <p:spPr>
          <a:xfrm>
            <a:off x="10058400" y="1417320"/>
            <a:ext cx="82296" cy="1143000"/>
          </a:xfrm>
          <a:prstGeom prst="rect">
            <a:avLst/>
          </a:prstGeom>
          <a:solidFill>
            <a:srgbClr val="0F2BC4"/>
          </a:solidFill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0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/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378440" y="1371600"/>
            <a:ext cx="7040880" cy="1234440"/>
          </a:xfrm>
          <a:prstGeom prst="rect">
            <a:avLst/>
          </a:prstGeom>
          <a:noFill/>
        </p:spPr>
        <p:txBody>
          <a:bodyPr lIns="0" tIns="0" rIns="0" bIns="0" wrap="square" anchor="ctr"/>
          <a:lstStyle/>
          <a:p>
            <a:pPr algn="l">
              <a:spcAft>
                <a:spcPts val="0"/>
              </a:spcAft>
            </a:pPr>
            <a:r>
              <a:rPr lang="en-US" sz="26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Every value reads PENDING: </a:t>
            </a:r>
            <a:r>
              <a:rPr lang="en-US" sz="26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the GPU rerun is in progress.</a:t>
            </a:r>
          </a:p>
        </p:txBody>
      </p:sp>
      <p:graphicFrame>
        <p:nvGraphicFramePr>
          <p:cNvPr id="51" name="Benchmark table"/>
          <p:cNvGraphicFramePr>
            <a:graphicFrameLocks noGrp="1"/>
          </p:cNvGraphicFramePr>
          <p:nvPr/>
        </p:nvGraphicFramePr>
        <p:xfrm>
          <a:off x="868680" y="3108960"/>
          <a:ext cx="11338560" cy="3520440"/>
        </p:xfrm>
        <a:graphic>
          <a:graphicData uri="http://schemas.openxmlformats.org/drawingml/2006/table">
            <a:tbl>
              <a:tblPr firstRow="1" bandRow="0"/>
              <a:tblGrid>
                <a:gridCol w="2377440"/>
                <a:gridCol w="2240280"/>
                <a:gridCol w="2240280"/>
                <a:gridCol w="2240280"/>
                <a:gridCol w="2240280"/>
              </a:tblGrid>
              <a:tr h="640080">
                <a:tc rowSpan="2">
                  <a:txBody>
                    <a:bodyPr/>
                    <a:lstStyle/>
                    <a:p>
                      <a:pPr algn="l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Dataset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IDF1: keeps the right ID over time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/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AssA: association accuracy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/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</a:tr>
              <a:tr h="548640">
                <a:tc vMerge="1"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/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ByteTrack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Ours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ByteTrack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Ours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MOT17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MOT20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 Semi-Bold"/>
                          <a:ea typeface="Inter Semi-Bold"/>
                          <a:cs typeface="Inter Semi-Bold"/>
                        </a:rPr>
                        <a:t>DanceTrack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0F2B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5B5F73"/>
                          </a:solidFill>
                          <a:latin typeface="Inter Medium"/>
                          <a:ea typeface="Inter Medium"/>
                          <a:cs typeface="Inter Medium"/>
                        </a:rPr>
                        <a:t>PENDING</a:t>
                      </a:r>
                    </a:p>
                  </a:txBody>
                  <a:tcPr marL="128016" marR="91440" marT="45720" marB="45720" anchor="ctr">
                    <a:lnL w="38100">
                      <a:solidFill>
                        <a:srgbClr val="FFFFFF"/>
                      </a:solidFill>
                    </a:lnL>
                    <a:lnR w="38100">
                      <a:solidFill>
                        <a:srgbClr val="FFFFFF"/>
                      </a:solidFill>
                    </a:lnR>
                    <a:lnT w="38100">
                      <a:solidFill>
                        <a:srgbClr val="FFFFFF"/>
                      </a:solidFill>
                    </a:lnT>
                    <a:lnB w="38100">
                      <a:solidFill>
                        <a:srgbClr val="FFFFFF"/>
                      </a:solidFill>
                    </a:lnB>
                    <a:solidFill>
                      <a:srgbClr val="ECEFFC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4"/>
          <p:cNvSpPr txBox="1"/>
          <p:nvPr/>
        </p:nvSpPr>
        <p:spPr>
          <a:xfrm>
            <a:off x="868680" y="6903720"/>
            <a:ext cx="11338560" cy="91440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20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Scored with TrackEval, the official MOT evaluation code. </a:t>
            </a:r>
            <a:r>
              <a:rPr lang="en-US" sz="20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We lead with ID metrics (IDF1, AssA) because our goal is one ID per person.</a:t>
            </a:r>
          </a:p>
        </p:txBody>
      </p:sp>
      <p:pic>
        <p:nvPicPr>
          <p:cNvPr id="52" name="Screenshot 52"/>
          <p:cNvPicPr>
            <a:picLocks noChangeAspect="1"/>
          </p:cNvPicPr>
          <p:nvPr/>
        </p:nvPicPr>
        <p:blipFill>
          <a:blip r:embed="rIdG3a"/>
          <a:stretch>
            <a:fillRect/>
          </a:stretch>
        </p:blipFill>
        <p:spPr>
          <a:xfrm>
            <a:off x="12618720" y="3108960"/>
            <a:ext cx="4800600" cy="2699020"/>
          </a:xfrm>
          <a:prstGeom prst="rect">
            <a:avLst/>
          </a:prstGeom>
          <a:ln w="25400">
            <a:solidFill>
              <a:srgbClr val="0F2BC4"/>
            </a:solidFill>
          </a:ln>
        </p:spPr>
      </p:pic>
      <p:sp>
        <p:nvSpPr>
          <p:cNvPr id="53" name="TextBox 53"/>
          <p:cNvSpPr txBox="1"/>
          <p:nvPr/>
        </p:nvSpPr>
        <p:spPr>
          <a:xfrm>
            <a:off x="12618720" y="5990860"/>
            <a:ext cx="4800600" cy="1005840"/>
          </a:xfrm>
          <a:prstGeom prst="rect">
            <a:avLst/>
          </a:prstGeom>
          <a:noFill/>
        </p:spPr>
        <p:txBody>
          <a:bodyPr lIns="0" tIns="0" rIns="0" bIns="0" wrap="square" anchor="t"/>
          <a:lstStyle/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Results page in our app: </a:t>
            </a:r>
            <a:r>
              <a:rPr lang="en-US" sz="18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the latest GPU checks, with our ByteTrack baseline marked “not reproduced”.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</p:spPr>
      </p:sp>
      <p:sp>
        <p:nvSpPr>
          <p:cNvPr name="Freeform 3" id="3"/>
          <p:cNvSpPr/>
          <p:nvPr/>
        </p:nvSpPr>
        <p:spPr>
          <a:xfrm flipH="false" flipV="false" rot="0">
            <a:off x="10883110" y="0"/>
            <a:ext cx="7404890" cy="10287000"/>
          </a:xfrm>
          <a:custGeom>
            <a:avLst/>
            <a:gdLst/>
            <a:ahLst/>
            <a:cxnLst/>
            <a:rect r="r" b="b" t="t" l="l"/>
            <a:pathLst>
              <a:path h="10287000" w="7404890">
                <a:moveTo>
                  <a:pt x="0" y="0"/>
                </a:moveTo>
                <a:lnTo>
                  <a:pt x="7404890" y="0"/>
                </a:lnTo>
                <a:lnTo>
                  <a:pt x="74048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634055"/>
            <a:ext cx="9581512" cy="1300906"/>
          </a:xfrm>
          <a:custGeom>
            <a:avLst/>
            <a:gdLst/>
            <a:ahLst/>
            <a:cxnLst/>
            <a:rect r="r" b="b" t="t" l="l"/>
            <a:pathLst>
              <a:path h="1300906" w="9581512">
                <a:moveTo>
                  <a:pt x="0" y="0"/>
                </a:moveTo>
                <a:lnTo>
                  <a:pt x="9581512" y="0"/>
                </a:lnTo>
                <a:lnTo>
                  <a:pt x="9581512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8352038"/>
            <a:ext cx="9581512" cy="1508614"/>
          </a:xfrm>
          <a:custGeom>
            <a:avLst/>
            <a:gdLst/>
            <a:ahLst/>
            <a:cxnLst/>
            <a:rect r="r" b="b" t="t" l="l"/>
            <a:pathLst>
              <a:path h="1508614" w="9581512">
                <a:moveTo>
                  <a:pt x="0" y="0"/>
                </a:moveTo>
                <a:lnTo>
                  <a:pt x="9581512" y="0"/>
                </a:lnTo>
                <a:lnTo>
                  <a:pt x="958151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914400" y="2011680"/>
            <a:ext cx="9326880" cy="150876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WHERE WE LOSE,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lang="en-US" sz="54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AND WHAT'S NEXT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14400" y="3657600"/>
            <a:ext cx="9326880" cy="4663440"/>
          </a:xfrm>
          <a:prstGeom prst="rect">
            <a:avLst/>
          </a:prstGeom>
        </p:spPr>
        <p:txBody>
          <a:bodyPr anchor="t" rtlCol="false" tIns="0" lIns="0" bIns="0" rIns="0" wrap="square">
            </a:bodyPr>
          <a:lstStyle/>
          <a:p>
            <a:pPr algn="l">
              <a:spcAft>
                <a:spcPts val="1600"/>
              </a:spcAft>
            </a:pPr>
            <a:r>
              <a:rPr lang="en-US" sz="26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We show where it fails, not just where it wins.</a:t>
            </a:r>
          </a:p>
          <a:p>
            <a:pPr algn="l">
              <a:spcAft>
                <a:spcPts val="80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WHERE WE LOSE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Hidden longer than 3 s: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our memory runs out, so ours is worse than ByteTrack in 14 of 48 cells.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Longer-memory setting: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cuts that to 1 of 48, but is tested on MOT17 only so far, so it stays opt-in.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Baseline check: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our GPU ByteTrack doesn't match published numbers yet (MOTA, overall tracking accuracy: 66.42 vs 76.6 published), so a rerun is under way before we compare.</a:t>
            </a:r>
          </a:p>
          <a:p>
            <a:pPr algn="l">
              <a:spcAft>
                <a:spcPts val="1100"/>
              </a:spcAft>
            </a:pPr>
            <a:r>
              <a:rPr lang="en-US" sz="1200" b="0" dirty="0">
                <a:solidFill>
                  <a:srgbClr val="0F2BC4"/>
                </a:solidFill>
                <a:latin typeface="Inter"/>
                <a:ea typeface="Inter"/>
                <a:cs typeface="Inter"/>
              </a:rPr>
              <a:t>■  </a:t>
            </a:r>
            <a:r>
              <a:rPr lang="en-US" sz="1900" b="1" dirty="0">
                <a:solidFill>
                  <a:srgbClr val="222643"/>
                </a:solidFill>
                <a:latin typeface="Inter Semi-Bold"/>
                <a:ea typeface="Inter Semi-Bold"/>
                <a:cs typeface="Inter Semi-Bold"/>
              </a:rPr>
              <a:t>CPU uploads: </a:t>
            </a:r>
            <a:r>
              <a:rPr lang="en-US" sz="1900" b="0" dirty="0">
                <a:solidFill>
                  <a:srgbClr val="2F3242"/>
                </a:solidFill>
                <a:latin typeface="Inter"/>
                <a:ea typeface="Inter"/>
                <a:cs typeface="Inter"/>
              </a:rPr>
              <a:t>appearance re-ID (matching people by looks) is off, which causes the false and missed crossings.</a:t>
            </a:r>
          </a:p>
        </p:txBody>
      </p:sp>
      <p:pic>
        <p:nvPicPr>
          <p:cNvPr id="20" name="Screenshot 20"/>
          <p:cNvPicPr>
            <a:picLocks noChangeAspect="1"/>
          </p:cNvPicPr>
          <p:nvPr/>
        </p:nvPicPr>
        <p:blipFill>
          <a:blip r:embed="rIdG3a"/>
          <a:stretch>
            <a:fillRect/>
          </a:stretch>
        </p:blipFill>
        <p:spPr>
          <a:xfrm>
            <a:off x="10561320" y="1143000"/>
            <a:ext cx="7223760" cy="4061382"/>
          </a:xfrm>
          <a:prstGeom prst="rect">
            <a:avLst/>
          </a:prstGeom>
          <a:ln w="50800">
            <a:solidFill>
              <a:srgbClr val="FFFFFF"/>
            </a:solidFill>
          </a:ln>
        </p:spPr>
      </p:pic>
      <p:sp>
        <p:nvSpPr>
          <p:cNvPr id="21" name="TextBox 21"/>
          <p:cNvSpPr txBox="1"/>
          <p:nvPr/>
        </p:nvSpPr>
        <p:spPr>
          <a:xfrm>
            <a:off x="10561320" y="5295822"/>
            <a:ext cx="7223760" cy="566928"/>
          </a:xfrm>
          <a:prstGeom prst="rect">
            <a:avLst/>
          </a:prstGeom>
          <a:solidFill>
            <a:srgbClr val="0F2BC4"/>
          </a:solidFill>
        </p:spPr>
        <p:txBody>
          <a:bodyPr lIns="137160" tIns="137160" rIns="137160" bIns="137160" wrap="square" anchor="ctr"/>
          <a:lstStyle/>
          <a:p>
            <a:pPr algn="l">
              <a:spcAft>
                <a:spcPts val="0"/>
              </a:spcAft>
            </a:pPr>
            <a:r>
              <a:rPr lang="en-US" sz="1600" b="1" dirty="0">
                <a:solidFill>
                  <a:srgbClr val="FFFFFF"/>
                </a:solidFill>
                <a:latin typeface="Inter Medium"/>
                <a:ea typeface="Inter Medium"/>
                <a:cs typeface="Inter Medium"/>
              </a:rPr>
              <a:t>Stress Map with the longer-memory setting: worse than ByteTrack in 1 of 48 cells (opt-in).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561320" y="6073062"/>
            <a:ext cx="7223760" cy="1965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F2BC4"/>
            </a:solidFill>
          </a:ln>
        </p:spPr>
        <p:txBody>
          <a:bodyPr lIns="201168" tIns="201168" rIns="201168" bIns="201168" wrap="square" anchor="t"/>
          <a:lstStyle/>
          <a:p>
            <a:pPr algn="l">
              <a:spcAft>
                <a:spcPts val="600"/>
              </a:spcAft>
            </a:pPr>
            <a:r>
              <a:rPr lang="en-US" sz="1700" b="1" dirty="0">
                <a:solidFill>
                  <a:srgbClr val="0F2BC4"/>
                </a:solidFill>
                <a:latin typeface="Inter Semi-Bold"/>
                <a:ea typeface="Inter Semi-Bold"/>
                <a:cs typeface="Inter Semi-Bold"/>
              </a:rPr>
              <a:t>NEXT</a:t>
            </a:r>
          </a:p>
          <a:p>
            <a:pPr algn="l">
              <a:spcAft>
                <a:spcPts val="500"/>
              </a:spcAft>
            </a:pPr>
            <a:r>
              <a:rPr lang="en-US" sz="18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1  </a:t>
            </a:r>
            <a:r>
              <a:rPr lang="en-US" sz="18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Finish the MOT17 / MOT20 / DanceTrack reruns.</a:t>
            </a:r>
          </a:p>
          <a:p>
            <a:pPr algn="l">
              <a:spcAft>
                <a:spcPts val="500"/>
              </a:spcAft>
            </a:pPr>
            <a:r>
              <a:rPr lang="en-US" sz="18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2  </a:t>
            </a:r>
            <a:r>
              <a:rPr lang="en-US" sz="18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Confirm longer memory on MOT20 and DanceTrack.</a:t>
            </a:r>
          </a:p>
          <a:p>
            <a:pPr algn="l">
              <a:spcAft>
                <a:spcPts val="0"/>
              </a:spcAft>
            </a:pPr>
            <a:r>
              <a:rPr lang="en-US" sz="1800" b="1" dirty="0">
                <a:solidFill>
                  <a:srgbClr val="0F2BC4"/>
                </a:solidFill>
                <a:latin typeface="Poppins Bold"/>
                <a:ea typeface="Poppins Bold"/>
                <a:cs typeface="Poppins Bold"/>
              </a:rPr>
              <a:t>3  </a:t>
            </a:r>
            <a:r>
              <a:rPr lang="en-US" sz="1800" b="0" dirty="0">
                <a:solidFill>
                  <a:srgbClr val="222643"/>
                </a:solidFill>
                <a:latin typeface="Inter"/>
                <a:ea typeface="Inter"/>
                <a:cs typeface="Inter"/>
              </a:rPr>
              <a:t>Turn re-ID on for GPU uploads.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DAHYR8l1N5E</dc:identifier>
  <dcterms:modified xsi:type="dcterms:W3CDTF">2011-08-01T06:04:30Z</dcterms:modified>
  <cp:revision>1</cp:revision>
  <dc:title>Vision Project Review</dc:title>
</cp:coreProperties>
</file>